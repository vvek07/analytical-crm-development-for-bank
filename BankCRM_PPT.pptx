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12192000" cy="6858000"/>
  <p:notesSz cx="6858000" cy="12192000"/>
  <p:embeddedFontLst>
    <p:embeddedFont>
      <p:font typeface="Cabin" panose="020B0604020202020204" charset="0"/>
      <p:regular r:id="rId21"/>
    </p:embeddedFont>
    <p:embeddedFont>
      <p:font typeface="Cabin Bold" panose="020B0604020202020204" charset="0"/>
      <p:regular r:id="rId22"/>
    </p:embeddedFont>
    <p:embeddedFont>
      <p:font typeface="Unbounde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1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999124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Customers Leave, and How to Keep Them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4027190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Analytical CRM Analysis of Bank Customer Churn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Vivek Ajay Patil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| Data Analyst  ·  Tools: Excel · MySQL · Power BI</a:t>
            </a:r>
            <a:endParaRPr lang="en-US" sz="15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68CE03-5ED6-12A0-D38D-F578FFD08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6487098"/>
            <a:ext cx="1188823" cy="3709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61069"/>
            <a:ext cx="10795524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One in five customers has left, taking 185.59M with them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71317" y="2303264"/>
            <a:ext cx="3117375" cy="5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20.37%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98086" y="3106539"/>
            <a:ext cx="346383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Churn Rate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8086" y="3467497"/>
            <a:ext cx="346383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2,037 of 10,000 customers have exited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37061" y="2303264"/>
            <a:ext cx="3117474" cy="5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185.59M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4363780" y="3106539"/>
            <a:ext cx="346393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Balance Lost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363829" y="3467497"/>
            <a:ext cx="346393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24% of all balances (764.86M total)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02903" y="2303264"/>
            <a:ext cx="3117375" cy="5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2,037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29672" y="3106539"/>
            <a:ext cx="346383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Customers Gone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29672" y="3467497"/>
            <a:ext cx="3463838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Concentrated in Germany, age 50+, inactive members, 3–4 products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4194770"/>
          <a:ext cx="10795524" cy="964978"/>
        </p:xfrm>
        <a:graphic>
          <a:graphicData uri="http://schemas.openxmlformats.org/drawingml/2006/table">
            <a:tbl>
              <a:tblPr/>
              <a:tblGrid>
                <a:gridCol w="269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Customers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Lost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Rate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Balance Lost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10,000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2,037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20.37%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185.59M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98086" y="5354241"/>
            <a:ext cx="10795524" cy="669330"/>
          </a:xfrm>
          <a:prstGeom prst="roundRect">
            <a:avLst>
              <a:gd name="adj" fmla="val 4023"/>
            </a:avLst>
          </a:prstGeom>
          <a:solidFill>
            <a:srgbClr val="08786D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68" y="5581352"/>
            <a:ext cx="224328" cy="1794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1378" y="5560616"/>
            <a:ext cx="10642334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Churn is concentrated — and because it is predictable, it is fixable.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4ABF1A-96BA-A641-282C-4CF437F4F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062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42957" y="1220803"/>
            <a:ext cx="3556903" cy="821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question we were asked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7942957" y="2133898"/>
            <a:ext cx="314119" cy="3141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8001494" y="2167781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354803" y="2181820"/>
            <a:ext cx="31450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Context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54803" y="2484934"/>
            <a:ext cx="3145056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bank wants to reduce churn, improve service and raise customer satisfaction.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42957" y="3060005"/>
            <a:ext cx="314119" cy="3141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8001494" y="3093889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354803" y="3107928"/>
            <a:ext cx="31450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354803" y="3411041"/>
            <a:ext cx="3145056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 demographics, account details and exit status for 10,000 customers who joined 2016 to 2019.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42957" y="4175919"/>
            <a:ext cx="314119" cy="3141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494" y="4209802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54803" y="4223841"/>
            <a:ext cx="31450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Job 1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54803" y="4526955"/>
            <a:ext cx="314505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Find the key factors behind churn.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42957" y="4912221"/>
            <a:ext cx="314119" cy="314127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494" y="4946104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354803" y="4960144"/>
            <a:ext cx="314505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Job 2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54803" y="5263257"/>
            <a:ext cx="3145056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profitable segments and target them with tailored services.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4701F4-5ABC-44B4-9586-3F839FCEF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7590"/>
            <a:ext cx="10795524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we reached the answer: three tools, one version of the truth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98086" y="2266156"/>
            <a:ext cx="5333966" cy="1696045"/>
          </a:xfrm>
          <a:prstGeom prst="roundRect">
            <a:avLst>
              <a:gd name="adj" fmla="val 1411"/>
            </a:avLst>
          </a:prstGeom>
          <a:solidFill>
            <a:srgbClr val="304755"/>
          </a:solidFill>
          <a:ln/>
        </p:spPr>
      </p:sp>
      <p:sp>
        <p:nvSpPr>
          <p:cNvPr id="4" name="Shape 2"/>
          <p:cNvSpPr/>
          <p:nvPr/>
        </p:nvSpPr>
        <p:spPr>
          <a:xfrm>
            <a:off x="857625" y="2425700"/>
            <a:ext cx="478718" cy="478730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285" y="2557264"/>
            <a:ext cx="215399" cy="215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625" y="3032026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Excel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7625" y="3343275"/>
            <a:ext cx="501488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Cleaned and prepared the data — 0 missing values, 0 duplicates.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59644" y="2266156"/>
            <a:ext cx="5333966" cy="1696045"/>
          </a:xfrm>
          <a:prstGeom prst="roundRect">
            <a:avLst>
              <a:gd name="adj" fmla="val 1411"/>
            </a:avLst>
          </a:pr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6319183" y="2425700"/>
            <a:ext cx="478718" cy="478730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0843" y="2557264"/>
            <a:ext cx="215399" cy="2154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19183" y="3032026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MySQL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19183" y="3343275"/>
            <a:ext cx="501488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Answered 26 objective and 14 subjective questions using joins, window functions and CTEs.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98086" y="4089797"/>
            <a:ext cx="5333966" cy="1696045"/>
          </a:xfrm>
          <a:prstGeom prst="roundRect">
            <a:avLst>
              <a:gd name="adj" fmla="val 1411"/>
            </a:avLst>
          </a:prstGeom>
          <a:solidFill>
            <a:srgbClr val="304755"/>
          </a:solidFill>
          <a:ln/>
        </p:spPr>
      </p:sp>
      <p:sp>
        <p:nvSpPr>
          <p:cNvPr id="14" name="Shape 10"/>
          <p:cNvSpPr/>
          <p:nvPr/>
        </p:nvSpPr>
        <p:spPr>
          <a:xfrm>
            <a:off x="857625" y="4249341"/>
            <a:ext cx="478718" cy="478730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285" y="4380905"/>
            <a:ext cx="215399" cy="2154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7625" y="4855666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57625" y="5166916"/>
            <a:ext cx="501488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5-tab dashboard with DAX measures and slicers for interactive exploration.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59644" y="4089797"/>
            <a:ext cx="5333966" cy="1696045"/>
          </a:xfrm>
          <a:prstGeom prst="roundRect">
            <a:avLst>
              <a:gd name="adj" fmla="val 1411"/>
            </a:avLst>
          </a:prstGeom>
          <a:solidFill>
            <a:srgbClr val="304755"/>
          </a:solidFill>
          <a:ln/>
        </p:spPr>
      </p:sp>
      <p:sp>
        <p:nvSpPr>
          <p:cNvPr id="19" name="Shape 14"/>
          <p:cNvSpPr/>
          <p:nvPr/>
        </p:nvSpPr>
        <p:spPr>
          <a:xfrm>
            <a:off x="6319183" y="4249341"/>
            <a:ext cx="478718" cy="478730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0843" y="4380905"/>
            <a:ext cx="215399" cy="2154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9183" y="4855666"/>
            <a:ext cx="501488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One Data Fix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19183" y="5166916"/>
            <a:ext cx="501488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735 customers were marked "active" but had already exited. Corrected — leaving 4,416 truly active members.</a:t>
            </a:r>
            <a:endParaRPr lang="en-US" sz="12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18D4E43-CDF9-0A7A-2463-BAEE9E06BB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6889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bank is growing faster every year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1168" y="2136676"/>
          <a:ext cx="5178791" cy="2421970"/>
        </p:xfrm>
        <a:graphic>
          <a:graphicData uri="http://schemas.openxmlformats.org/drawingml/2006/table">
            <a:tbl>
              <a:tblPr/>
              <a:tblGrid>
                <a:gridCol w="172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Year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Customers Joined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Growth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2016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1,951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n/a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2017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2,143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+9.84%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2018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2,593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+21.00%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2019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3,313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+27.77%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321168" y="4753173"/>
            <a:ext cx="5178792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Customers joining in 2019 are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70% more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than in 2016. But growth only helps if customers stay.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27042-C010-7D4C-2EE1-62C52645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6429F2-F689-AE97-7448-5D38FBB2F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72" y="1736113"/>
            <a:ext cx="5589842" cy="448605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8442"/>
            <a:ext cx="10795524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Most customers join in Q4, so that is when retention planning matters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302615" y="2050532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Seasonal Insights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08964" y="2335293"/>
            <a:ext cx="5190995" cy="140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Q4 brings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3,677 joiners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against just 1,460 in Q1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Peak months: November 1,437 · December 1,409 · September 1,356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Lowest month: February — only 324 joiners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Peak-month joiners churn at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20.73%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vs 20.11% in other months: more volume, not better loyalty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8964" y="3776547"/>
            <a:ext cx="5190995" cy="845939"/>
          </a:xfrm>
          <a:prstGeom prst="roundRect">
            <a:avLst>
              <a:gd name="adj" fmla="val 3007"/>
            </a:avLst>
          </a:prstGeom>
          <a:solidFill>
            <a:srgbClr val="08786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26" y="4030050"/>
            <a:ext cx="211926" cy="1694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9813" y="3948592"/>
            <a:ext cx="447068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Plan onboarding and welcome offers for September to December.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83ABDF-35DF-4E6F-98E7-CDF4F2AEF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D41C98-E18F-3272-7A5A-A9CA29605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14" y="2314782"/>
            <a:ext cx="4550903" cy="398780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483E25-7090-6D17-17D2-4832575666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5022579"/>
            <a:ext cx="5403959" cy="15317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9483"/>
            <a:ext cx="10795524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But one in five customers leaves — and the rate has not improved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8964" y="2447330"/>
          <a:ext cx="5190996" cy="2182260"/>
        </p:xfrm>
        <a:graphic>
          <a:graphicData uri="http://schemas.openxmlformats.org/drawingml/2006/table">
            <a:tbl>
              <a:tblPr/>
              <a:tblGrid>
                <a:gridCol w="1297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Joining Year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Customers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Exited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Rate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2016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1,951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376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19.27%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2017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2,143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479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22.35%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2018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2,593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524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20.21%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2019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3,313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658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19.86%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308964" y="4804470"/>
            <a:ext cx="519099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Every joining year sits between 19% and 22%. Growth has not changed churn — this is a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structural problem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not a recent one.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C957A6-50CA-4C3A-C7FC-B23CB1F96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98D69F-A043-F764-E892-2C0D52B44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547774"/>
            <a:ext cx="4816257" cy="99068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55047E-8108-0C48-9576-69CF4F63D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19" y="4414701"/>
            <a:ext cx="5547841" cy="89161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064" y="203828"/>
            <a:ext cx="10795524" cy="111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Where: Germany is 25% of customers, 40% of exits and 53% of the lost money</a:t>
            </a:r>
            <a:endParaRPr lang="en-US" sz="3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71535"/>
              </p:ext>
            </p:extLst>
          </p:nvPr>
        </p:nvGraphicFramePr>
        <p:xfrm>
          <a:off x="698086" y="1447717"/>
          <a:ext cx="10795524" cy="2096640"/>
        </p:xfrm>
        <a:graphic>
          <a:graphicData uri="http://schemas.openxmlformats.org/drawingml/2006/table">
            <a:tbl>
              <a:tblPr/>
              <a:tblGrid>
                <a:gridCol w="179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9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9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9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Region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Customers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Rate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Exits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Avg Balance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Active Members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Germany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2,509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0A988B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32.44%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814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119,730.12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37.94%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6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France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5,014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16.15%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810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62,092.64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45.73%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Spain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2,477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16.67%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413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61,818.15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47.27%</a:t>
                      </a:r>
                      <a:endParaRPr lang="en-US" sz="14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89505" marR="189505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98086" y="3655798"/>
            <a:ext cx="1079552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Salary and credit score are almost identical across all regions. The difference is </a:t>
            </a: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engagement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Germany has the lowest active member share at 37.94%.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BED47-8529-45A3-F2EF-E4A849D33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488867-F215-3271-555C-833DCB458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4820582"/>
            <a:ext cx="5000358" cy="126297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A43B5E-F473-F130-1ED4-A3E47FBD0F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416" y="4246943"/>
            <a:ext cx="4017194" cy="243869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9483"/>
            <a:ext cx="10795524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Who: older customers and women leave the most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8964" y="2447330"/>
          <a:ext cx="5190995" cy="1764858"/>
        </p:xfrm>
        <a:graphic>
          <a:graphicData uri="http://schemas.openxmlformats.org/drawingml/2006/table">
            <a:tbl>
              <a:tblPr/>
              <a:tblGrid>
                <a:gridCol w="1730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0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6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Age Bracket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Customers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Rate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18–30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1,968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7.52%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31–50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6,771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19.58%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6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50+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1,261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44.65%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308964" y="4387056"/>
            <a:ext cx="5190995" cy="1096863"/>
          </a:xfrm>
          <a:prstGeom prst="roundRect">
            <a:avLst>
              <a:gd name="adj" fmla="val 2319"/>
            </a:avLst>
          </a:prstGeom>
          <a:solidFill>
            <a:srgbClr val="45070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25" y="4609306"/>
            <a:ext cx="211926" cy="16946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59813" y="4559102"/>
            <a:ext cx="447068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Highest-risk group: women aged 50+ in Germany — </a:t>
            </a:r>
            <a:r>
              <a:rPr lang="en-US" sz="13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67.03% churn</a:t>
            </a:r>
            <a:r>
              <a:rPr lang="en-US" sz="13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(182 customers). Exited customers are about 7 years older than those who stayed (44.8 vs 37.4).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04B871-689A-0C32-0E27-9AE92C022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D7361B-3E14-F1EB-6041-46405ED85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2617227"/>
            <a:ext cx="4692695" cy="236532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9483"/>
            <a:ext cx="10795524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How: customer behaviour predicts churn better than demographics</a:t>
            </a:r>
            <a:endParaRPr lang="en-US" sz="3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8964" y="2447330"/>
          <a:ext cx="5190995" cy="2188610"/>
        </p:xfrm>
        <a:graphic>
          <a:graphicData uri="http://schemas.openxmlformats.org/drawingml/2006/table">
            <a:tbl>
              <a:tblPr/>
              <a:tblGrid>
                <a:gridCol w="1730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0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Products Held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Customers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Rate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5,084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27.71%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4,590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7.58% 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266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82.71%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60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100.00%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308964" y="4810820"/>
            <a:ext cx="519099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Inactive members churn at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26.85%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vs 14.27% for active members. One-product customers make up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69% of all exits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(1,409 customers).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935FA-618E-E6CF-66AF-0BD6ED4E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05884A-E2BE-EBAB-05F8-787AEEBC2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33" y="2447330"/>
            <a:ext cx="4653806" cy="410294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41728"/>
            <a:ext cx="5572085" cy="2784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does not predict churn: four common assumptions the data rejects</a:t>
            </a:r>
            <a:endParaRPr lang="en-US" sz="3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387076"/>
              </p:ext>
            </p:extLst>
          </p:nvPr>
        </p:nvGraphicFramePr>
        <p:xfrm>
          <a:off x="698086" y="3985245"/>
          <a:ext cx="10795524" cy="2421970"/>
        </p:xfrm>
        <a:graphic>
          <a:graphicData uri="http://schemas.openxmlformats.org/drawingml/2006/table">
            <a:tbl>
              <a:tblPr/>
              <a:tblGrid>
                <a:gridCol w="359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8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Factor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Range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Verdict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Credit score band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18.62% to 22.02%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Weak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Credit card ownership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20.18% vs 20.81%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No effect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Tenure (3 to 7 years)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19.14% to 21.91%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Not significant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Salary quartile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19.80% to 21.56%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Not significant</a:t>
                      </a:r>
                      <a:endParaRPr lang="en-US" sz="14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79531" marR="179531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98086" y="6532266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Card rewards lower churn by only 1 to 4 points, even inside each risk tier.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Do not target retention by salary, tenure or card ownership.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A1307-1068-ECF2-0FC7-C8373FD7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9CCD86-C299-8314-4803-4F98014D8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339" y="219213"/>
            <a:ext cx="4432041" cy="348152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46617"/>
            <a:ext cx="10795524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it costs: we are losing our better customers</a:t>
            </a:r>
            <a:endParaRPr lang="en-US" sz="2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6860" y="2494955"/>
          <a:ext cx="5203100" cy="2373450"/>
        </p:xfrm>
        <a:graphic>
          <a:graphicData uri="http://schemas.openxmlformats.org/drawingml/2006/table">
            <a:tbl>
              <a:tblPr/>
              <a:tblGrid>
                <a:gridCol w="173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Segment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Rate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Balance Lost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31–50, Germany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32.06%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65.43M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31–50, France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15.39%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37.07M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50+, Germany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59.83%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25.66M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31–50, Spain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15.42%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17.65M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50+, France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39.97%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16.51M</a:t>
                      </a:r>
                      <a:endParaRPr lang="en-US" sz="12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296860" y="5024735"/>
            <a:ext cx="5203100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Exited customers held </a:t>
            </a: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more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than those who stayed: 91,109 vs 72,745 on average. Germany alone accounts for </a:t>
            </a: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97.97M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of the 185.59M lost.</a:t>
            </a:r>
            <a:endParaRPr lang="en-US" sz="12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CAF0C-F0B7-FA02-70A8-DBB506565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E76C17-ADB2-36FC-266B-46DE2121B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8" y="2838527"/>
            <a:ext cx="5312032" cy="228766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477" y="547757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Who to call first: a simple risk score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284656" y="1735695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Risk Score Logic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84656" y="2057721"/>
            <a:ext cx="582488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Score =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 point each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for: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84656" y="2366466"/>
            <a:ext cx="5215303" cy="9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 or more products held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Inactive member status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 over 50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Lives in Germany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4656" y="3448050"/>
          <a:ext cx="5215304" cy="1445778"/>
        </p:xfrm>
        <a:graphic>
          <a:graphicData uri="http://schemas.openxmlformats.org/drawingml/2006/table">
            <a:tbl>
              <a:tblPr/>
              <a:tblGrid>
                <a:gridCol w="1738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Risk Level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Customers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Churn Rate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Low (0–1)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8,120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13.42%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Medium (2)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1,639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44.60%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High (3–4)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241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63946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89.63%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84656" y="5032772"/>
            <a:ext cx="5215303" cy="695325"/>
          </a:xfrm>
          <a:prstGeom prst="roundRect">
            <a:avLst>
              <a:gd name="adj" fmla="val 3227"/>
            </a:avLst>
          </a:prstGeom>
          <a:solidFill>
            <a:srgbClr val="08786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5" y="5203726"/>
            <a:ext cx="186923" cy="1495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70617" y="5172594"/>
            <a:ext cx="457982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 high-risk customers are still with the bank and hold </a:t>
            </a:r>
            <a:r>
              <a:rPr lang="en-US" sz="11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3.01M</a:t>
            </a: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Contact these 25 first.</a:t>
            </a: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32178B-A27D-F70F-3C5B-C8E494329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F82445-2CA1-36D3-156B-1041B48F5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79" y="1196807"/>
            <a:ext cx="5537065" cy="535752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03787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Six actions, each tied to evidence</a:t>
            </a:r>
            <a:endParaRPr lang="en-US" sz="3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162969"/>
          <a:ext cx="10795524" cy="3306082"/>
        </p:xfrm>
        <a:graphic>
          <a:graphicData uri="http://schemas.openxmlformats.org/drawingml/2006/table">
            <a:tbl>
              <a:tblPr/>
              <a:tblGrid>
                <a:gridCol w="359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8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Action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8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Target Group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8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Evidence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8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1. Germany retention programme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2,509 German customers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32.44% churn, 53% of lost balance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9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2. Personal service for 50+ customers, especially women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1,261 customers aged 50+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44.65% churn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3. Re-activate inactive members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Inactive members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26.85% vs 14.27% churn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4. Fix the 3 to 4 product bundles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326 customers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82.71% and 100% churn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5. Cross-sell a second product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5,084 one-product customers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7.58% vs 27.71% churn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6. Early-warning risk score and call list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25 high-risk customers (3.01M)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89.63% churn</a:t>
                      </a:r>
                      <a:endParaRPr lang="en-US" sz="13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69557" marR="169557" marT="6350" marB="6350" anchor="ctr">
                    <a:lnL w="12700" cap="flat" cmpd="sng" algn="ctr">
                      <a:solidFill>
                        <a:srgbClr val="1B3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22C7D87-032F-BD60-0CEF-4914BB991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21717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Start small, measure, then scale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450989"/>
            <a:ext cx="6691130" cy="2937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82966" y="4223875"/>
            <a:ext cx="905691" cy="131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 Days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982966" y="4455738"/>
            <a:ext cx="905691" cy="546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Call 25 high‑risk customers; refresh dashboard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95954" y="4143848"/>
            <a:ext cx="905691" cy="131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90 Days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295955" y="4355517"/>
            <a:ext cx="905691" cy="525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 churn by segment; scale successful pilots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14728" y="2836884"/>
            <a:ext cx="905691" cy="131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60 Days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14728" y="2999038"/>
            <a:ext cx="905691" cy="574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Launch Germany; run 50+ pilots with control groups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58633" y="2033649"/>
            <a:ext cx="35412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KPI Baseline to Track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8633" y="2368153"/>
          <a:ext cx="3541228" cy="1808810"/>
        </p:xfrm>
        <a:graphic>
          <a:graphicData uri="http://schemas.openxmlformats.org/drawingml/2006/table">
            <a:tbl>
              <a:tblPr/>
              <a:tblGrid>
                <a:gridCol w="1770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KPI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Baseline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Overall churn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20.37%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Germany churn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32.44%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Active member rate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44.16%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Balance retained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Track monthly</a:t>
                      </a:r>
                      <a:endParaRPr lang="en-US" sz="115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49609" marR="149609" marT="6350" marB="6350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958633" y="4315916"/>
            <a:ext cx="3541227" cy="1114227"/>
          </a:xfrm>
          <a:prstGeom prst="roundRect">
            <a:avLst>
              <a:gd name="adj" fmla="val 2014"/>
            </a:avLst>
          </a:prstGeom>
          <a:solidFill>
            <a:srgbClr val="183A1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152" y="4486870"/>
            <a:ext cx="186923" cy="1495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44594" y="4455738"/>
            <a:ext cx="2905747" cy="8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Illustration: if Germany's churn fell to the France and Spain level (~16%), roughly </a:t>
            </a:r>
            <a:r>
              <a:rPr lang="en-US" sz="11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400 fewer customers</a:t>
            </a: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would leave — about 20% of all exits.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E3046-7381-1B28-C8F4-423814192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60338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the data cannot tell us yet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184797"/>
            <a:ext cx="3490825" cy="1588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4565" y="2389684"/>
            <a:ext cx="297946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Exit Date or Reason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004565" y="2750641"/>
            <a:ext cx="2979465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Reasons are inferred from patterns — no direct exit survey data available.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0435" y="2184797"/>
            <a:ext cx="3490825" cy="1588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6914" y="2389684"/>
            <a:ext cx="297946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Campaign Data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656914" y="2750641"/>
            <a:ext cx="2979465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Marketing effectiveness cannot be measured without a campaign table.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2784" y="2184797"/>
            <a:ext cx="3490825" cy="15889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09263" y="2389684"/>
            <a:ext cx="297946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Regional Economics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309263" y="2750641"/>
            <a:ext cx="2979465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GDP, unemployment and interest rates are absent — they may explain Germany's gap.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935313"/>
            <a:ext cx="3490825" cy="15889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4565" y="4140200"/>
            <a:ext cx="297946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Quality Issue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004565" y="4501158"/>
            <a:ext cx="2979465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735 contradictory records were found. A data-quality check is needed at the source.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0435" y="3935313"/>
            <a:ext cx="3490825" cy="15889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56914" y="4140200"/>
            <a:ext cx="297946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Needed Next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656914" y="4501158"/>
            <a:ext cx="2979465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Exit survey · campaign table · transaction history · regional economic data.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7356CC-0054-8FB2-E4B5-79236E87C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77" y="6554332"/>
            <a:ext cx="1188823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175865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Four things to remember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698086" y="1764010"/>
            <a:ext cx="6223638" cy="1005185"/>
          </a:xfrm>
          <a:prstGeom prst="roundRect">
            <a:avLst>
              <a:gd name="adj" fmla="val 2233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847605" y="1913533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Scale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7605" y="2200771"/>
            <a:ext cx="592460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20.37% churn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with 185.59M of balances lost — exited customers held more than those who stayed.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8086" y="2881312"/>
            <a:ext cx="6223638" cy="795734"/>
          </a:xfrm>
          <a:prstGeom prst="roundRect">
            <a:avLst>
              <a:gd name="adj" fmla="val 2820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847605" y="3030835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Where the Risk Sits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47605" y="3318073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Germany · Age 50+ · Inactive members · Customers with 3 to 4 products.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8086" y="3789164"/>
            <a:ext cx="6223638" cy="795734"/>
          </a:xfrm>
          <a:prstGeom prst="roundRect">
            <a:avLst>
              <a:gd name="adj" fmla="val 2820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847605" y="3938687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Doesn't Matter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47605" y="4225925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Salary, tenure, credit score and card ownership do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not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explain churn. Don't target by these.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8086" y="4697016"/>
            <a:ext cx="6223638" cy="1005185"/>
          </a:xfrm>
          <a:prstGeom prst="roundRect">
            <a:avLst>
              <a:gd name="adj" fmla="val 2233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847605" y="4846538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Act Now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47605" y="5133777"/>
            <a:ext cx="592460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Call the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25 high-risk customers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today. Pilot a Germany programme and a 50+ programme with control groups.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9251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you.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Any Questions?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733899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Vivek Ajay Patil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| Data Analyst</a:t>
            </a:r>
            <a:endParaRPr lang="en-US" sz="15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Tools: Excel · MySQL · Power BI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1283</Words>
  <Application>Microsoft Office PowerPoint</Application>
  <PresentationFormat>Widescreen</PresentationFormat>
  <Paragraphs>287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Unbounded</vt:lpstr>
      <vt:lpstr>Cabin Bold</vt:lpstr>
      <vt:lpstr>Arial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Vivek Patil</dc:creator>
  <cp:lastModifiedBy>Vivek Patil</cp:lastModifiedBy>
  <cp:revision>2</cp:revision>
  <dcterms:created xsi:type="dcterms:W3CDTF">2026-10-12T14:35:18Z</dcterms:created>
  <dcterms:modified xsi:type="dcterms:W3CDTF">2026-10-13T12:04:44Z</dcterms:modified>
</cp:coreProperties>
</file>